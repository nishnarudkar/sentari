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.jpg" ContentType="image/jpg"/>
  <Override PartName="/ppt/media/image3.jpg" ContentType="image/jpg"/>
  <Override PartName="/ppt/media/image4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8" r:id="rId4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72" r:id="rId1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1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D7624-54DD-D0F6-F367-B52CA9E1BAE5}" v="8" dt="2026-09-04T19:11:56.545"/>
    <p1510:client id="{E1212782-C53D-4D5C-9162-A7EB79A18391}" v="261" dt="2026-09-04T19:52:39.0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6/11/relationships/changesInfo" Target="changesInfos/changesInfo1.xml"/><Relationship Id="rId21" Type="http://schemas.microsoft.com/office/2015/10/relationships/revisionInfo" Target="revisionInfo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101D7624-54DD-D0F6-F367-B52CA9E1BAE5}"/>
    <pc:docChg chg="modSld">
      <pc:chgData name="Guest User" userId="" providerId="Windows Live" clId="Web-{101D7624-54DD-D0F6-F367-B52CA9E1BAE5}" dt="2026-09-04T19:11:54.826" v="2" actId="20577"/>
      <pc:docMkLst>
        <pc:docMk/>
      </pc:docMkLst>
      <pc:sldChg chg="modSp">
        <pc:chgData name="Guest User" userId="" providerId="Windows Live" clId="Web-{101D7624-54DD-D0F6-F367-B52CA9E1BAE5}" dt="2026-09-04T19:11:54.826" v="2" actId="20577"/>
        <pc:sldMkLst>
          <pc:docMk/>
          <pc:sldMk cId="0" sldId="256"/>
        </pc:sldMkLst>
        <pc:spChg chg="mod">
          <ac:chgData name="Guest User" userId="" providerId="Windows Live" clId="Web-{101D7624-54DD-D0F6-F367-B52CA9E1BAE5}" dt="2026-09-04T19:11:54.826" v="2" actId="20577"/>
          <ac:spMkLst>
            <pc:docMk/>
            <pc:sldMk cId="0" sldId="256"/>
            <ac:spMk id="9" creationId="{00000000-0000-0000-0000-000000000000}"/>
          </ac:spMkLst>
        </pc:spChg>
      </pc:sldChg>
    </pc:docChg>
  </pc:docChgLst>
  <pc:docChgLst>
    <pc:chgData name="Maitreya Pawar" userId="78049979b96bedaf" providerId="LiveId" clId="{A26782AB-3A1C-4D29-9F59-B6B6784F5C44}"/>
    <pc:docChg chg="undo custSel addSld delSld modSld">
      <pc:chgData name="Maitreya Pawar" userId="78049979b96bedaf" providerId="LiveId" clId="{A26782AB-3A1C-4D29-9F59-B6B6784F5C44}" dt="2026-09-04T19:53:32.347" v="679" actId="1076"/>
      <pc:docMkLst>
        <pc:docMk/>
      </pc:docMkLst>
      <pc:sldChg chg="modSp mod">
        <pc:chgData name="Maitreya Pawar" userId="78049979b96bedaf" providerId="LiveId" clId="{A26782AB-3A1C-4D29-9F59-B6B6784F5C44}" dt="2026-09-04T19:52:09.677" v="665" actId="20577"/>
        <pc:sldMkLst>
          <pc:docMk/>
          <pc:sldMk cId="0" sldId="256"/>
        </pc:sldMkLst>
        <pc:spChg chg="mod">
          <ac:chgData name="Maitreya Pawar" userId="78049979b96bedaf" providerId="LiveId" clId="{A26782AB-3A1C-4D29-9F59-B6B6784F5C44}" dt="2026-09-04T19:52:09.677" v="665" actId="20577"/>
          <ac:spMkLst>
            <pc:docMk/>
            <pc:sldMk cId="0" sldId="256"/>
            <ac:spMk id="5" creationId="{00000000-0000-0000-0000-000000000000}"/>
          </ac:spMkLst>
        </pc:spChg>
        <pc:spChg chg="mod">
          <ac:chgData name="Maitreya Pawar" userId="78049979b96bedaf" providerId="LiveId" clId="{A26782AB-3A1C-4D29-9F59-B6B6784F5C44}" dt="2026-09-04T19:51:06.803" v="594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itreya Pawar" userId="78049979b96bedaf" providerId="LiveId" clId="{A26782AB-3A1C-4D29-9F59-B6B6784F5C44}" dt="2026-09-04T19:10:53.963" v="90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Maitreya Pawar" userId="78049979b96bedaf" providerId="LiveId" clId="{A26782AB-3A1C-4D29-9F59-B6B6784F5C44}" dt="2026-09-04T19:50:31.571" v="558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Maitreya Pawar" userId="78049979b96bedaf" providerId="LiveId" clId="{A26782AB-3A1C-4D29-9F59-B6B6784F5C44}" dt="2026-09-04T19:53:32.347" v="679" actId="1076"/>
        <pc:sldMkLst>
          <pc:docMk/>
          <pc:sldMk cId="0" sldId="257"/>
        </pc:sldMkLst>
        <pc:spChg chg="mod">
          <ac:chgData name="Maitreya Pawar" userId="78049979b96bedaf" providerId="LiveId" clId="{A26782AB-3A1C-4D29-9F59-B6B6784F5C44}" dt="2026-09-04T19:53:32.347" v="679" actId="1076"/>
          <ac:spMkLst>
            <pc:docMk/>
            <pc:sldMk cId="0" sldId="257"/>
            <ac:spMk id="6" creationId="{00000000-0000-0000-0000-000000000000}"/>
          </ac:spMkLst>
        </pc:spChg>
      </pc:sldChg>
      <pc:sldChg chg="modSp mod">
        <pc:chgData name="Maitreya Pawar" userId="78049979b96bedaf" providerId="LiveId" clId="{A26782AB-3A1C-4D29-9F59-B6B6784F5C44}" dt="2026-09-04T19:17:11.134" v="174" actId="113"/>
        <pc:sldMkLst>
          <pc:docMk/>
          <pc:sldMk cId="0" sldId="261"/>
        </pc:sldMkLst>
        <pc:graphicFrameChg chg="mod modGraphic">
          <ac:chgData name="Maitreya Pawar" userId="78049979b96bedaf" providerId="LiveId" clId="{A26782AB-3A1C-4D29-9F59-B6B6784F5C44}" dt="2026-09-04T19:17:11.134" v="174" actId="113"/>
          <ac:graphicFrameMkLst>
            <pc:docMk/>
            <pc:sldMk cId="0" sldId="261"/>
            <ac:graphicFrameMk id="9" creationId="{A451AE1A-2358-9587-C137-82A86953D009}"/>
          </ac:graphicFrameMkLst>
        </pc:graphicFrameChg>
      </pc:sldChg>
      <pc:sldChg chg="addSp delSp modSp mod">
        <pc:chgData name="Maitreya Pawar" userId="78049979b96bedaf" providerId="LiveId" clId="{A26782AB-3A1C-4D29-9F59-B6B6784F5C44}" dt="2026-09-04T19:16:37.619" v="168" actId="1076"/>
        <pc:sldMkLst>
          <pc:docMk/>
          <pc:sldMk cId="0" sldId="262"/>
        </pc:sldMkLst>
        <pc:spChg chg="mod">
          <ac:chgData name="Maitreya Pawar" userId="78049979b96bedaf" providerId="LiveId" clId="{A26782AB-3A1C-4D29-9F59-B6B6784F5C44}" dt="2026-09-04T19:12:56.734" v="119" actId="20577"/>
          <ac:spMkLst>
            <pc:docMk/>
            <pc:sldMk cId="0" sldId="262"/>
            <ac:spMk id="8" creationId="{00000000-0000-0000-0000-000000000000}"/>
          </ac:spMkLst>
        </pc:spChg>
        <pc:spChg chg="add del mod">
          <ac:chgData name="Maitreya Pawar" userId="78049979b96bedaf" providerId="LiveId" clId="{A26782AB-3A1C-4D29-9F59-B6B6784F5C44}" dt="2026-09-04T19:13:34.394" v="124"/>
          <ac:spMkLst>
            <pc:docMk/>
            <pc:sldMk cId="0" sldId="262"/>
            <ac:spMk id="9" creationId="{3278C151-F41F-BAAB-4CEC-160B5233A0B4}"/>
          </ac:spMkLst>
        </pc:spChg>
        <pc:spChg chg="add mod">
          <ac:chgData name="Maitreya Pawar" userId="78049979b96bedaf" providerId="LiveId" clId="{A26782AB-3A1C-4D29-9F59-B6B6784F5C44}" dt="2026-09-04T19:16:37.619" v="168" actId="1076"/>
          <ac:spMkLst>
            <pc:docMk/>
            <pc:sldMk cId="0" sldId="262"/>
            <ac:spMk id="13" creationId="{C952A4D8-EDEA-97F1-E004-4DD8C51EADA9}"/>
          </ac:spMkLst>
        </pc:spChg>
        <pc:graphicFrameChg chg="add mod modGraphic">
          <ac:chgData name="Maitreya Pawar" userId="78049979b96bedaf" providerId="LiveId" clId="{A26782AB-3A1C-4D29-9F59-B6B6784F5C44}" dt="2026-09-04T19:16:04.188" v="162" actId="14100"/>
          <ac:graphicFrameMkLst>
            <pc:docMk/>
            <pc:sldMk cId="0" sldId="262"/>
            <ac:graphicFrameMk id="12" creationId="{D03886BD-8654-C97C-FEE2-D07CA22A1510}"/>
          </ac:graphicFrameMkLst>
        </pc:graphicFrameChg>
      </pc:sldChg>
      <pc:sldChg chg="addSp delSp modSp mod">
        <pc:chgData name="Maitreya Pawar" userId="78049979b96bedaf" providerId="LiveId" clId="{A26782AB-3A1C-4D29-9F59-B6B6784F5C44}" dt="2026-09-04T19:34:48.139" v="394" actId="1076"/>
        <pc:sldMkLst>
          <pc:docMk/>
          <pc:sldMk cId="0" sldId="264"/>
        </pc:sldMkLst>
        <pc:spChg chg="mod">
          <ac:chgData name="Maitreya Pawar" userId="78049979b96bedaf" providerId="LiveId" clId="{A26782AB-3A1C-4D29-9F59-B6B6784F5C44}" dt="2026-09-04T19:30:36.004" v="334" actId="20577"/>
          <ac:spMkLst>
            <pc:docMk/>
            <pc:sldMk cId="0" sldId="264"/>
            <ac:spMk id="3" creationId="{00000000-0000-0000-0000-000000000000}"/>
          </ac:spMkLst>
        </pc:spChg>
        <pc:spChg chg="add del mod">
          <ac:chgData name="Maitreya Pawar" userId="78049979b96bedaf" providerId="LiveId" clId="{A26782AB-3A1C-4D29-9F59-B6B6784F5C44}" dt="2026-09-04T19:31:08.901" v="340"/>
          <ac:spMkLst>
            <pc:docMk/>
            <pc:sldMk cId="0" sldId="264"/>
            <ac:spMk id="4" creationId="{AA2122A3-3FBB-E7E0-C1EA-D4F9CD8CF0F1}"/>
          </ac:spMkLst>
        </pc:spChg>
        <pc:spChg chg="add del mod">
          <ac:chgData name="Maitreya Pawar" userId="78049979b96bedaf" providerId="LiveId" clId="{A26782AB-3A1C-4D29-9F59-B6B6784F5C44}" dt="2026-09-04T19:32:36.393" v="346"/>
          <ac:spMkLst>
            <pc:docMk/>
            <pc:sldMk cId="0" sldId="264"/>
            <ac:spMk id="8" creationId="{E5D14025-AFD6-3F54-66CE-4A056CB162C5}"/>
          </ac:spMkLst>
        </pc:spChg>
        <pc:spChg chg="add mod">
          <ac:chgData name="Maitreya Pawar" userId="78049979b96bedaf" providerId="LiveId" clId="{A26782AB-3A1C-4D29-9F59-B6B6784F5C44}" dt="2026-09-04T19:34:01.491" v="387" actId="1076"/>
          <ac:spMkLst>
            <pc:docMk/>
            <pc:sldMk cId="0" sldId="264"/>
            <ac:spMk id="10" creationId="{9758CCF2-42BE-0CB5-A15E-712BA5FA7617}"/>
          </ac:spMkLst>
        </pc:spChg>
        <pc:spChg chg="add mod">
          <ac:chgData name="Maitreya Pawar" userId="78049979b96bedaf" providerId="LiveId" clId="{A26782AB-3A1C-4D29-9F59-B6B6784F5C44}" dt="2026-09-04T19:34:48.139" v="394" actId="1076"/>
          <ac:spMkLst>
            <pc:docMk/>
            <pc:sldMk cId="0" sldId="264"/>
            <ac:spMk id="11" creationId="{DD8841D3-934D-B6CC-927D-38160C05D311}"/>
          </ac:spMkLst>
        </pc:spChg>
        <pc:graphicFrameChg chg="add mod modGraphic">
          <ac:chgData name="Maitreya Pawar" userId="78049979b96bedaf" providerId="LiveId" clId="{A26782AB-3A1C-4D29-9F59-B6B6784F5C44}" dt="2026-09-04T19:32:51.223" v="349" actId="404"/>
          <ac:graphicFrameMkLst>
            <pc:docMk/>
            <pc:sldMk cId="0" sldId="264"/>
            <ac:graphicFrameMk id="7" creationId="{1B51A38C-1EE3-7D4F-4FB8-7CACF641804C}"/>
          </ac:graphicFrameMkLst>
        </pc:graphicFrameChg>
        <pc:graphicFrameChg chg="add mod modGraphic">
          <ac:chgData name="Maitreya Pawar" userId="78049979b96bedaf" providerId="LiveId" clId="{A26782AB-3A1C-4D29-9F59-B6B6784F5C44}" dt="2026-09-04T19:34:10.836" v="388" actId="1076"/>
          <ac:graphicFrameMkLst>
            <pc:docMk/>
            <pc:sldMk cId="0" sldId="264"/>
            <ac:graphicFrameMk id="9" creationId="{78678507-F753-AE23-ADFA-A3FA31CB6C87}"/>
          </ac:graphicFrameMkLst>
        </pc:graphicFrameChg>
      </pc:sldChg>
      <pc:sldChg chg="del">
        <pc:chgData name="Maitreya Pawar" userId="78049979b96bedaf" providerId="LiveId" clId="{A26782AB-3A1C-4D29-9F59-B6B6784F5C44}" dt="2026-09-04T19:12:04.366" v="96" actId="47"/>
        <pc:sldMkLst>
          <pc:docMk/>
          <pc:sldMk cId="0" sldId="265"/>
        </pc:sldMkLst>
      </pc:sldChg>
      <pc:sldChg chg="del">
        <pc:chgData name="Maitreya Pawar" userId="78049979b96bedaf" providerId="LiveId" clId="{A26782AB-3A1C-4D29-9F59-B6B6784F5C44}" dt="2026-09-04T19:12:06.870" v="97" actId="47"/>
        <pc:sldMkLst>
          <pc:docMk/>
          <pc:sldMk cId="0" sldId="269"/>
        </pc:sldMkLst>
      </pc:sldChg>
      <pc:sldChg chg="addSp delSp modSp mod">
        <pc:chgData name="Maitreya Pawar" userId="78049979b96bedaf" providerId="LiveId" clId="{A26782AB-3A1C-4D29-9F59-B6B6784F5C44}" dt="2026-09-04T19:49:16.167" v="551"/>
        <pc:sldMkLst>
          <pc:docMk/>
          <pc:sldMk cId="0" sldId="270"/>
        </pc:sldMkLst>
        <pc:spChg chg="mod">
          <ac:chgData name="Maitreya Pawar" userId="78049979b96bedaf" providerId="LiveId" clId="{A26782AB-3A1C-4D29-9F59-B6B6784F5C44}" dt="2026-09-04T19:49:14.773" v="549" actId="20577"/>
          <ac:spMkLst>
            <pc:docMk/>
            <pc:sldMk cId="0" sldId="270"/>
            <ac:spMk id="3" creationId="{00000000-0000-0000-0000-000000000000}"/>
          </ac:spMkLst>
        </pc:spChg>
        <pc:spChg chg="mod">
          <ac:chgData name="Maitreya Pawar" userId="78049979b96bedaf" providerId="LiveId" clId="{A26782AB-3A1C-4D29-9F59-B6B6784F5C44}" dt="2026-09-04T19:49:03.858" v="534" actId="1076"/>
          <ac:spMkLst>
            <pc:docMk/>
            <pc:sldMk cId="0" sldId="270"/>
            <ac:spMk id="4" creationId="{00000000-0000-0000-0000-000000000000}"/>
          </ac:spMkLst>
        </pc:spChg>
        <pc:spChg chg="add del mod">
          <ac:chgData name="Maitreya Pawar" userId="78049979b96bedaf" providerId="LiveId" clId="{A26782AB-3A1C-4D29-9F59-B6B6784F5C44}" dt="2026-09-04T19:49:16.167" v="551"/>
          <ac:spMkLst>
            <pc:docMk/>
            <pc:sldMk cId="0" sldId="270"/>
            <ac:spMk id="7" creationId="{05B7595D-E7FF-429F-444B-F739301A83A2}"/>
          </ac:spMkLst>
        </pc:spChg>
      </pc:sldChg>
      <pc:sldChg chg="del">
        <pc:chgData name="Maitreya Pawar" userId="78049979b96bedaf" providerId="LiveId" clId="{A26782AB-3A1C-4D29-9F59-B6B6784F5C44}" dt="2026-09-04T19:49:20.563" v="552" actId="47"/>
        <pc:sldMkLst>
          <pc:docMk/>
          <pc:sldMk cId="0" sldId="271"/>
        </pc:sldMkLst>
      </pc:sldChg>
      <pc:sldChg chg="addSp delSp modSp mod">
        <pc:chgData name="Maitreya Pawar" userId="78049979b96bedaf" providerId="LiveId" clId="{A26782AB-3A1C-4D29-9F59-B6B6784F5C44}" dt="2026-09-04T19:27:17.304" v="319" actId="1076"/>
        <pc:sldMkLst>
          <pc:docMk/>
          <pc:sldMk cId="1926586263" sldId="274"/>
        </pc:sldMkLst>
        <pc:spChg chg="mod">
          <ac:chgData name="Maitreya Pawar" userId="78049979b96bedaf" providerId="LiveId" clId="{A26782AB-3A1C-4D29-9F59-B6B6784F5C44}" dt="2026-09-04T19:22:03.055" v="229" actId="20577"/>
          <ac:spMkLst>
            <pc:docMk/>
            <pc:sldMk cId="1926586263" sldId="274"/>
            <ac:spMk id="2" creationId="{C09EFCC7-F229-2CFD-0FEB-3985505CA2A1}"/>
          </ac:spMkLst>
        </pc:spChg>
        <pc:spChg chg="add mod">
          <ac:chgData name="Maitreya Pawar" userId="78049979b96bedaf" providerId="LiveId" clId="{A26782AB-3A1C-4D29-9F59-B6B6784F5C44}" dt="2026-09-04T19:26:48.098" v="314" actId="1076"/>
          <ac:spMkLst>
            <pc:docMk/>
            <pc:sldMk cId="1926586263" sldId="274"/>
            <ac:spMk id="3" creationId="{F46A36A2-42BB-9580-2EE9-1AE987B8546E}"/>
          </ac:spMkLst>
        </pc:spChg>
        <pc:spChg chg="add mod">
          <ac:chgData name="Maitreya Pawar" userId="78049979b96bedaf" providerId="LiveId" clId="{A26782AB-3A1C-4D29-9F59-B6B6784F5C44}" dt="2026-09-04T19:27:13.524" v="318" actId="1076"/>
          <ac:spMkLst>
            <pc:docMk/>
            <pc:sldMk cId="1926586263" sldId="274"/>
            <ac:spMk id="5" creationId="{5DEDA680-320B-2E42-28FB-72DCC4CDAA41}"/>
          </ac:spMkLst>
        </pc:spChg>
        <pc:spChg chg="add del mod">
          <ac:chgData name="Maitreya Pawar" userId="78049979b96bedaf" providerId="LiveId" clId="{A26782AB-3A1C-4D29-9F59-B6B6784F5C44}" dt="2026-09-04T19:26:51.898" v="315" actId="1076"/>
          <ac:spMkLst>
            <pc:docMk/>
            <pc:sldMk cId="1926586263" sldId="274"/>
            <ac:spMk id="6" creationId="{34F5574A-7940-6E7A-F70B-173CD95436EB}"/>
          </ac:spMkLst>
        </pc:spChg>
        <pc:spChg chg="add mod">
          <ac:chgData name="Maitreya Pawar" userId="78049979b96bedaf" providerId="LiveId" clId="{A26782AB-3A1C-4D29-9F59-B6B6784F5C44}" dt="2026-09-04T19:27:17.304" v="319" actId="1076"/>
          <ac:spMkLst>
            <pc:docMk/>
            <pc:sldMk cId="1926586263" sldId="274"/>
            <ac:spMk id="7" creationId="{FEE10DB0-12CA-B08A-54DA-A672C4DAA186}"/>
          </ac:spMkLst>
        </pc:spChg>
      </pc:sldChg>
      <pc:sldChg chg="addSp modSp mod">
        <pc:chgData name="Maitreya Pawar" userId="78049979b96bedaf" providerId="LiveId" clId="{A26782AB-3A1C-4D29-9F59-B6B6784F5C44}" dt="2026-09-04T19:40:12.071" v="457" actId="113"/>
        <pc:sldMkLst>
          <pc:docMk/>
          <pc:sldMk cId="3928748344" sldId="275"/>
        </pc:sldMkLst>
        <pc:spChg chg="mod">
          <ac:chgData name="Maitreya Pawar" userId="78049979b96bedaf" providerId="LiveId" clId="{A26782AB-3A1C-4D29-9F59-B6B6784F5C44}" dt="2026-09-04T19:40:05.494" v="456" actId="20577"/>
          <ac:spMkLst>
            <pc:docMk/>
            <pc:sldMk cId="3928748344" sldId="275"/>
            <ac:spMk id="2" creationId="{94E01446-F0EA-50A4-0A50-CE45DF04A066}"/>
          </ac:spMkLst>
        </pc:spChg>
        <pc:spChg chg="add mod">
          <ac:chgData name="Maitreya Pawar" userId="78049979b96bedaf" providerId="LiveId" clId="{A26782AB-3A1C-4D29-9F59-B6B6784F5C44}" dt="2026-09-04T19:40:12.071" v="457" actId="113"/>
          <ac:spMkLst>
            <pc:docMk/>
            <pc:sldMk cId="3928748344" sldId="275"/>
            <ac:spMk id="4" creationId="{6B0022F9-DB08-4070-79DC-3B4AA215D063}"/>
          </ac:spMkLst>
        </pc:spChg>
      </pc:sldChg>
      <pc:sldChg chg="modSp add mod">
        <pc:chgData name="Maitreya Pawar" userId="78049979b96bedaf" providerId="LiveId" clId="{A26782AB-3A1C-4D29-9F59-B6B6784F5C44}" dt="2026-09-04T19:42:51.455" v="486" actId="20577"/>
        <pc:sldMkLst>
          <pc:docMk/>
          <pc:sldMk cId="409508292" sldId="276"/>
        </pc:sldMkLst>
        <pc:spChg chg="mod">
          <ac:chgData name="Maitreya Pawar" userId="78049979b96bedaf" providerId="LiveId" clId="{A26782AB-3A1C-4D29-9F59-B6B6784F5C44}" dt="2026-09-04T19:42:51.455" v="486" actId="20577"/>
          <ac:spMkLst>
            <pc:docMk/>
            <pc:sldMk cId="409508292" sldId="276"/>
            <ac:spMk id="3" creationId="{8789E3AF-FCAE-2AAE-F1E8-127EB3AF6102}"/>
          </ac:spMkLst>
        </pc:spChg>
        <pc:spChg chg="mod">
          <ac:chgData name="Maitreya Pawar" userId="78049979b96bedaf" providerId="LiveId" clId="{A26782AB-3A1C-4D29-9F59-B6B6784F5C44}" dt="2026-09-04T19:42:30.127" v="474" actId="14100"/>
          <ac:spMkLst>
            <pc:docMk/>
            <pc:sldMk cId="409508292" sldId="276"/>
            <ac:spMk id="4" creationId="{6CB10396-F2B3-E8FF-F0FF-C214F243A4B0}"/>
          </ac:spMkLst>
        </pc:spChg>
      </pc:sldChg>
      <pc:sldChg chg="modSp add mod">
        <pc:chgData name="Maitreya Pawar" userId="78049979b96bedaf" providerId="LiveId" clId="{A26782AB-3A1C-4D29-9F59-B6B6784F5C44}" dt="2026-09-04T19:46:56.795" v="520" actId="1076"/>
        <pc:sldMkLst>
          <pc:docMk/>
          <pc:sldMk cId="2577927864" sldId="277"/>
        </pc:sldMkLst>
        <pc:spChg chg="mod">
          <ac:chgData name="Maitreya Pawar" userId="78049979b96bedaf" providerId="LiveId" clId="{A26782AB-3A1C-4D29-9F59-B6B6784F5C44}" dt="2026-09-04T19:46:33.414" v="513" actId="20577"/>
          <ac:spMkLst>
            <pc:docMk/>
            <pc:sldMk cId="2577927864" sldId="277"/>
            <ac:spMk id="3" creationId="{26799CD6-2AF9-A8A5-A932-6BDCAEA37118}"/>
          </ac:spMkLst>
        </pc:spChg>
        <pc:spChg chg="mod">
          <ac:chgData name="Maitreya Pawar" userId="78049979b96bedaf" providerId="LiveId" clId="{A26782AB-3A1C-4D29-9F59-B6B6784F5C44}" dt="2026-09-04T19:46:56.795" v="520" actId="1076"/>
          <ac:spMkLst>
            <pc:docMk/>
            <pc:sldMk cId="2577927864" sldId="277"/>
            <ac:spMk id="4" creationId="{38F5B83F-841F-C380-39CB-6828B17457B5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>
                <a:solidFill>
                  <a:srgbClr val="262626"/>
                </a:solidFill>
                <a:latin typeface="Calibri"/>
              </a:rPr>
              <a:t>Macro-F1 on 94 test sentences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Macro-F1</c:v>
                </c:pt>
              </c:strCache>
            </c:strRef>
          </c:tx>
          <c:dPt>
            <c:idx val="0"/>
            <c:spPr>
              <a:solidFill>
                <a:srgbClr val="BFBFBF"/>
              </a:solidFill>
            </c:spPr>
          </c:dPt>
          <c:dPt>
            <c:idx val="1"/>
            <c:spPr>
              <a:solidFill>
                <a:srgbClr val="BFBFBF"/>
              </a:solidFill>
            </c:spPr>
          </c:dPt>
          <c:dPt>
            <c:idx val="2"/>
            <c:spPr>
              <a:solidFill>
                <a:srgbClr val="BFBFBF"/>
              </a:solidFill>
            </c:spPr>
          </c:dPt>
          <c:dPt>
            <c:idx val="3"/>
            <c:spPr>
              <a:solidFill>
                <a:srgbClr val="BFBFBF"/>
              </a:solidFill>
            </c:spPr>
          </c:dPt>
          <c:dPt>
            <c:idx val="4"/>
            <c:spPr>
              <a:solidFill>
                <a:srgbClr val="BFBFBF"/>
              </a:solidFill>
            </c:spPr>
          </c:dPt>
          <c:dPt>
            <c:idx val="5"/>
            <c:spPr>
              <a:solidFill>
                <a:srgbClr val="BFBFBF"/>
              </a:solidFill>
            </c:spPr>
          </c:dPt>
          <c:dPt>
            <c:idx val="6"/>
            <c:spPr>
              <a:solidFill>
                <a:srgbClr val="BFBFBF"/>
              </a:solidFill>
            </c:spPr>
          </c:dPt>
          <c:dPt>
            <c:idx val="7"/>
            <c:spPr>
              <a:solidFill>
                <a:srgbClr val="BFBFBF"/>
              </a:solidFill>
            </c:spPr>
          </c:dPt>
          <c:dPt>
            <c:idx val="8"/>
            <c:spPr>
              <a:solidFill>
                <a:srgbClr val="B8475A"/>
              </a:solidFill>
            </c:spPr>
          </c:dPt>
          <c:dPt>
            <c:idx val="9"/>
            <c:spPr>
              <a:solidFill>
                <a:srgbClr val="9F1C33"/>
              </a:solidFill>
            </c:spPr>
          </c:dPt>
          <c:cat>
            <c:strRef>
              <c:f>Sheet1!$A$2:$A$11</c:f>
              <c:strCache>
                <c:ptCount val="10"/>
                <c:pt idx="0">
                  <c:v>SentiWordNet</c:v>
                </c:pt>
                <c:pt idx="1">
                  <c:v>Decision Tree</c:v>
                </c:pt>
                <c:pt idx="2">
                  <c:v>Loughran-McDonald</c:v>
                </c:pt>
                <c:pt idx="3">
                  <c:v>FinBERT zero-shot</c:v>
                </c:pt>
                <c:pt idx="4">
                  <c:v>BiLSTM</c:v>
                </c:pt>
                <c:pt idx="5">
                  <c:v>VADER</c:v>
                </c:pt>
                <c:pt idx="6">
                  <c:v>CNN</c:v>
                </c:pt>
                <c:pt idx="7">
                  <c:v>Naive Bayes</c:v>
                </c:pt>
                <c:pt idx="8">
                  <c:v>LM + directional rules</c:v>
                </c:pt>
                <c:pt idx="9">
                  <c:v>FinBERT fine-tuned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0.49</c:v>
                </c:pt>
                <c:pt idx="1">
                  <c:v>0.519</c:v>
                </c:pt>
                <c:pt idx="2">
                  <c:v>0.599</c:v>
                </c:pt>
                <c:pt idx="3">
                  <c:v>0.601</c:v>
                </c:pt>
                <c:pt idx="4">
                  <c:v>0.607</c:v>
                </c:pt>
                <c:pt idx="5">
                  <c:v>0.647</c:v>
                </c:pt>
                <c:pt idx="6">
                  <c:v>0.739</c:v>
                </c:pt>
                <c:pt idx="7">
                  <c:v>0.743</c:v>
                </c:pt>
                <c:pt idx="8">
                  <c:v>0.805</c:v>
                </c:pt>
                <c:pt idx="9">
                  <c:v>0.938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5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262626"/>
                </a:solidFill>
              </a:rPr>
              <a:t>Corrupted claims caught (%)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Heuristic skeptic</c:v>
                </c:pt>
              </c:strCache>
            </c:strRef>
          </c:tx>
          <c:spPr>
            <a:solidFill>
              <a:srgbClr val="BFBFBF"/>
            </a:solidFill>
          </c:spPr>
          <c:cat>
            <c:strRef>
              <c:f>Sheet1!$A$2:$A$6</c:f>
              <c:strCache>
                <c:ptCount val="5"/>
                <c:pt idx="0">
                  <c:v>Number changed</c:v>
                </c:pt>
                <c:pt idx="1">
                  <c:v>Citation removed</c:v>
                </c:pt>
                <c:pt idx="2">
                  <c:v>Wrong source</c:v>
                </c:pt>
                <c:pt idx="3">
                  <c:v>Fabricated</c:v>
                </c:pt>
                <c:pt idx="4">
                  <c:v>Polarity flipped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22.7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Skeptic + NLI model</c:v>
                </c:pt>
              </c:strCache>
            </c:strRef>
          </c:tx>
          <c:spPr>
            <a:solidFill>
              <a:srgbClr val="9F1C33"/>
            </a:solidFill>
          </c:spPr>
          <c:cat>
            <c:strRef>
              <c:f>Sheet1!$A$2:$A$6</c:f>
              <c:strCache>
                <c:ptCount val="5"/>
                <c:pt idx="0">
                  <c:v>Number changed</c:v>
                </c:pt>
                <c:pt idx="1">
                  <c:v>Citation removed</c:v>
                </c:pt>
                <c:pt idx="2">
                  <c:v>Wrong source</c:v>
                </c:pt>
                <c:pt idx="3">
                  <c:v>Fabricated</c:v>
                </c:pt>
                <c:pt idx="4">
                  <c:v>Polarity flipped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000"/>
          </a:pPr>
        </a:p>
      </c:txPr>
    </c:legend>
    <c:dispBlanksAs val="gap"/>
  </c:chart>
  <c:txPr>
    <a:bodyPr/>
    <a:lstStyle/>
    <a:p>
      <a:pPr>
        <a:defRPr sz="10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EE5FE-9F5E-4A48-8719-EA24194D9A20}" type="datetimeFigureOut">
              <a:rPr lang="en-IN" smtClean="0"/>
              <a:t>05-09-2026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66CE09-78E3-4174-BB24-7E81E64D1A8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8205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Sentari: aspect-level sentiment on earnings calls and filings, with grounded multi-agent briefs. Research and decision-support only - not investment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Nine sections; the last content slide summarises limitations honestly.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Scope: US and NSE/BSE listed companies, daily batch pipeline. Out of scope: real-time trading, trade execution, any guarantee of predictive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pipeline: ingest -&gt; score -&gt; briefs -&gt; drift -&gt; digest (POST /run/daily). The registry decides which sentiment model serves. Docker/Cloud Run files are written but not yet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Mixed sentence: one positive and one negative demand clause average to neutral - a known simplification. Scores from `python -m absa_service.cli analyze` with lm_directional (official Loughran-McDonald dictionary) and fine-tuned FinBERT.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Lexicon rows use the official Loughran-McDonald dictionary (1993-2025). lm_directional's rules were written with sight of the test set, so 0.805 is optimistic. Source: results/model_ladder.json and the official-dictionary re-evaluation.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Adversarial audit: 43 faithful claims corrupted five ways. 'Caught' = rejected or flagged unverified. Synthetic corruptions of verbatim claims are the easy case; a human audit of LLM-written claims is not yet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screenshots of the Next.js dashboard running on the real pilot database (414 calls). Every page carries the not-investment-advice notice.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Drill-down example: Boeing liquidity, Q4 2024 call. The brief uses the latest call plus the one before; only claims the Skeptic marks supported appear.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Audit trail: every agent step is stored per brief - here the Skeptic's per-claim checks (citation, numbers, similarity, overlap, NLI entailment 0.978). Drift is measured per company on quarterly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Pilot data: kurry/sp500_earnings_transcripts (Hugging Face, pinned revision). Scores: lm_directional and finbert_ft. Study is PRELIMINARY until the human-labelled real gold set picks the model. Bonferroni over 6 tests: no Q&amp;A-gap coefficient survives. Source: results/pilot/signal_validity_preliminary.json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and decision-support only; nothing here is investment advice or a trading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citations and tool versions are in the project repository README and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F1C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F1C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F1C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9F1C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395287" y="6308725"/>
            <a:ext cx="6193155" cy="0"/>
          </a:xfrm>
          <a:custGeom>
            <a:avLst/>
            <a:gdLst/>
            <a:ahLst/>
            <a:cxnLst/>
            <a:rect l="l" t="t" r="r" b="b"/>
            <a:pathLst>
              <a:path w="6193155">
                <a:moveTo>
                  <a:pt x="0" y="0"/>
                </a:moveTo>
                <a:lnTo>
                  <a:pt x="6192837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450849"/>
            <a:ext cx="5966459" cy="5256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9F1C33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8630" y="1165352"/>
            <a:ext cx="8546465" cy="441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2896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435"/>
              </a:lnSpc>
            </a:pPr>
            <a:r>
              <a:rPr sz="1400" dirty="0"/>
              <a:t>SE</a:t>
            </a:r>
            <a:r>
              <a:rPr sz="1400" spc="-35" dirty="0"/>
              <a:t> </a:t>
            </a:r>
            <a:r>
              <a:rPr sz="1400" dirty="0"/>
              <a:t>Mini</a:t>
            </a:r>
            <a:r>
              <a:rPr sz="1400" spc="-15" dirty="0"/>
              <a:t> </a:t>
            </a:r>
            <a:r>
              <a:rPr sz="1400" dirty="0"/>
              <a:t>Project</a:t>
            </a:r>
            <a:r>
              <a:rPr sz="1400" spc="-15" dirty="0"/>
              <a:t> </a:t>
            </a:r>
            <a:r>
              <a:rPr sz="1400" dirty="0"/>
              <a:t>Mock</a:t>
            </a:r>
            <a:r>
              <a:rPr sz="1400" spc="-40" dirty="0"/>
              <a:t> </a:t>
            </a:r>
            <a:r>
              <a:rPr sz="1400" dirty="0"/>
              <a:t>1</a:t>
            </a:r>
            <a:r>
              <a:rPr sz="1400" spc="-15" dirty="0"/>
              <a:t> </a:t>
            </a:r>
            <a:r>
              <a:rPr sz="1400" spc="-10" dirty="0"/>
              <a:t>Presentation</a:t>
            </a:r>
            <a:endParaRPr sz="140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0540" y="6452870"/>
            <a:ext cx="393674" cy="2902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251460">
              <a:lnSpc>
                <a:spcPts val="1435"/>
              </a:lnSpc>
            </a:pPr>
            <a:fld id="{81D60167-4931-47E6-BA6A-407CBD079E47}" type="slidenum">
              <a:rPr sz="1400" spc="-50" dirty="0">
                <a:solidFill>
                  <a:srgbClr val="404040"/>
                </a:solidFill>
              </a:rPr>
              <a:t>‹#›</a:t>
            </a:fld>
            <a:endParaRPr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5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notesSlide" Target="../notesSlides/notesSlide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F1C33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15541" y="1019302"/>
            <a:ext cx="6690995" cy="550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14045">
              <a:lnSpc>
                <a:spcPct val="100000"/>
              </a:lnSpc>
              <a:spcBef>
                <a:spcPts val="100"/>
              </a:spcBef>
              <a:tabLst>
                <a:tab pos="5086350" algn="l"/>
              </a:tabLst>
            </a:pP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Ramrao Adik Institute of Technology</a:t>
            </a:r>
          </a:p>
          <a:p>
            <a:pPr marL="12700" marR="5080" indent="614045">
              <a:lnSpc>
                <a:spcPct val="100000"/>
              </a:lnSpc>
              <a:spcBef>
                <a:spcPts val="100"/>
              </a:spcBef>
              <a:tabLst>
                <a:tab pos="5086350" algn="l"/>
              </a:tabLst>
            </a:pPr>
            <a:r>
              <a:rPr sz="1600" b="1" spc="-20" dirty="0">
                <a:solidFill>
                  <a:srgbClr val="FFFFFF"/>
                </a:solidFill>
                <a:latin typeface="Times New Roman"/>
                <a:cs typeface="Times New Roman"/>
              </a:rPr>
              <a:t>Department of Computer Science and Engineering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53742" y="1669302"/>
            <a:ext cx="547471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i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Sentiment Analysis — Final Year Project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743203" y="2171458"/>
            <a:ext cx="7673747" cy="18261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44145" algn="ctr">
              <a:lnSpc>
                <a:spcPct val="100000"/>
              </a:lnSpc>
              <a:spcBef>
                <a:spcPts val="100"/>
              </a:spcBef>
            </a:pPr>
            <a:r>
              <a:rPr sz="2400" b="1" i="1" spc="-25" dirty="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endParaRPr sz="2400" dirty="0">
              <a:latin typeface="Times New Roman"/>
              <a:cs typeface="Times New Roman"/>
            </a:endParaRPr>
          </a:p>
          <a:p>
            <a:pPr marR="146685" algn="ctr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Times New Roman"/>
                <a:cs typeface="Times New Roman"/>
              </a:rPr>
              <a:t>“Sentari: An Earnings-Call &amp; Filings Intelligence</a:t>
            </a:r>
            <a:endParaRPr sz="2400" dirty="0">
              <a:latin typeface="Times New Roman"/>
              <a:cs typeface="Times New Roman"/>
            </a:endParaRPr>
          </a:p>
          <a:p>
            <a:pPr marR="146685" algn="ctr">
              <a:lnSpc>
                <a:spcPct val="100000"/>
              </a:lnSpc>
            </a:pPr>
            <a:r>
              <a:rPr sz="2400" b="1" i="1" dirty="0">
                <a:solidFill>
                  <a:srgbClr val="FFFFFF"/>
                </a:solidFill>
                <a:latin typeface="Times New Roman"/>
                <a:cs typeface="Times New Roman"/>
              </a:rPr>
              <a:t>Platform for Retail Investors”</a:t>
            </a:r>
            <a:endParaRPr sz="2400" dirty="0">
              <a:latin typeface="Times New Roman"/>
              <a:cs typeface="Times New Roman"/>
            </a:endParaRPr>
          </a:p>
          <a:p>
            <a:pPr marR="144145" algn="ctr">
              <a:lnSpc>
                <a:spcPts val="2685"/>
              </a:lnSpc>
            </a:pPr>
            <a:r>
              <a:rPr sz="2400" b="1" spc="-25" dirty="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ts val="2805"/>
              </a:lnSpc>
              <a:tabLst>
                <a:tab pos="5169535" algn="l"/>
              </a:tabLst>
            </a:pP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Roll No.	Name of Student</a:t>
            </a:r>
            <a:endParaRPr sz="25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63976" y="5943600"/>
            <a:ext cx="4794124" cy="3969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500" b="1" dirty="0">
                <a:solidFill>
                  <a:srgbClr val="FFFFFF"/>
                </a:solidFill>
                <a:latin typeface="Times New Roman"/>
                <a:cs typeface="Times New Roman"/>
              </a:rPr>
              <a:t>Guided by : [Faculty Guide Name]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40151" y="115887"/>
            <a:ext cx="2663825" cy="94773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5560314" y="3950208"/>
            <a:ext cx="3050286" cy="204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0000"/>
              </a:lnSpc>
              <a:spcBef>
                <a:spcPts val="100"/>
              </a:spcBef>
            </a:pPr>
            <a:r>
              <a:rPr lang="en-IN"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Nishant Narudkar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27049" y="3950208"/>
            <a:ext cx="1449070" cy="2102285"/>
          </a:xfrm>
          <a:prstGeom prst="rect">
            <a:avLst/>
          </a:prstGeom>
        </p:spPr>
        <p:txBody>
          <a:bodyPr vert="horz" wrap="square" lIns="0" tIns="159385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lang="en-IN"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23AM1031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OUTLINE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1481328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499616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Problem &amp; Objectives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267712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2286000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3054096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2384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Aspect-Based Sentiment Pipeline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3840480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4168" y="3858768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Model Ladder &amp; Lexicon Failure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626864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645152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Grounded Multi-Agent Briefs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1481328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04688" y="1499616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Website Walkthrough</a:t>
            </a:r>
          </a:p>
        </p:txBody>
      </p:sp>
      <p:sp>
        <p:nvSpPr>
          <p:cNvPr id="22" name="Oval 21"/>
          <p:cNvSpPr/>
          <p:nvPr/>
        </p:nvSpPr>
        <p:spPr>
          <a:xfrm>
            <a:off x="4846320" y="2267712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04688" y="2286000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Real-Data Pilot &amp; Signal Study</a:t>
            </a:r>
          </a:p>
        </p:txBody>
      </p:sp>
      <p:sp>
        <p:nvSpPr>
          <p:cNvPr id="24" name="Oval 23"/>
          <p:cNvSpPr/>
          <p:nvPr/>
        </p:nvSpPr>
        <p:spPr>
          <a:xfrm>
            <a:off x="4846320" y="3054096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04688" y="3072384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Conclusion &amp; Future Work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840480"/>
            <a:ext cx="512064" cy="512064"/>
          </a:xfrm>
          <a:prstGeom prst="ellipse">
            <a:avLst/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04688" y="3858768"/>
            <a:ext cx="3291840" cy="49377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262626"/>
                </a:solidFill>
                <a:latin typeface="Times New Roman"/>
              </a:rPr>
              <a:t>References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4590288"/>
            <a:ext cx="3657600" cy="86868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000" b="1">
                <a:solidFill>
                  <a:srgbClr val="9F1C33"/>
                </a:solidFill>
                <a:latin typeface="Times New Roman"/>
              </a:rPr>
              <a:t>Sentari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Times New Roman"/>
              </a:rPr>
              <a:t>sentiment × aspects × grounded agents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9144000" y="0"/>
                </a:moveTo>
                <a:lnTo>
                  <a:pt x="0" y="0"/>
                </a:lnTo>
                <a:lnTo>
                  <a:pt x="0" y="6858000"/>
                </a:lnTo>
                <a:lnTo>
                  <a:pt x="9144000" y="6858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9F1C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74339" y="2891739"/>
            <a:ext cx="319659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370" dirty="0">
                <a:solidFill>
                  <a:srgbClr val="FFFFFF"/>
                </a:solidFill>
                <a:latin typeface="Tahoma"/>
                <a:cs typeface="Tahoma"/>
              </a:rPr>
              <a:t>Thank</a:t>
            </a:r>
            <a:r>
              <a:rPr sz="5400" spc="-4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5400" spc="-550" dirty="0">
                <a:solidFill>
                  <a:srgbClr val="FFFFFF"/>
                </a:solidFill>
                <a:latin typeface="Tahoma"/>
                <a:cs typeface="Tahoma"/>
              </a:rPr>
              <a:t>You</a:t>
            </a:r>
            <a:endParaRPr sz="5400"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78601" y="5780086"/>
            <a:ext cx="3065272" cy="107791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PROBLEM &amp; OBJECTIVES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280160"/>
            <a:ext cx="4069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9F1C33"/>
                </a:solidFill>
                <a:latin typeface="Times New Roman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91640"/>
            <a:ext cx="4069080" cy="2377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A retail investor following 15–20 stocks cannot read every earnings call (10,000+ words each) and 10-K/10-Q filing.</a:t>
            </a:r>
          </a:p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Document-level “positive / negative” scores miss what matters: softer guidance, margin pressure, hedging in the Q&amp;A.</a:t>
            </a:r>
          </a:p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500" b="0" i="0">
                <a:solidFill>
                  <a:srgbClr val="262626"/>
                </a:solidFill>
                <a:latin typeface="Times New Roman"/>
              </a:rPr>
              <a:t>General sentiment lexicons misread finance: “costs fell” is good news; “liabilities decreased” is not negative.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4069080" cy="123444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500" b="1">
                <a:solidFill>
                  <a:srgbClr val="9F1C33"/>
                </a:solidFill>
                <a:latin typeface="Times New Roman"/>
              </a:rPr>
              <a:t>Core question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Times New Roman"/>
              </a:rPr>
              <a:t>Can we measure what management says about each financial aspect — and trace every claim to its source sentence?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280160"/>
            <a:ext cx="38404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9F1C33"/>
                </a:solidFill>
                <a:latin typeface="Times New Roman"/>
              </a:rPr>
              <a:t>Objectives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1792224"/>
            <a:ext cx="566928" cy="384048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32120" y="1719072"/>
            <a:ext cx="320040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Aspect-level sentiment on 6 aspects: guidance, margins, demand, litigation, management tone, liquidity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2551176"/>
            <a:ext cx="566928" cy="384048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478024"/>
            <a:ext cx="320040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Show empirically where general lexicons fail on financial language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3310128"/>
            <a:ext cx="566928" cy="384048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236976"/>
            <a:ext cx="320040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Bull / bear / skeptic / judge agents whose every claim is grounded and cited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46320" y="4069079"/>
            <a:ext cx="566928" cy="384048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995927"/>
            <a:ext cx="320040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A working service: ingestion, storage, dashboard, digest, drift monitoring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46320" y="4828031"/>
            <a:ext cx="566928" cy="384048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G5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4754879"/>
            <a:ext cx="3200400" cy="713232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An honest evaluation — including null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SYSTEM ARCHITECTURE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pic>
        <p:nvPicPr>
          <p:cNvPr id="10" name="Picture 9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8321040" cy="199808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3456432"/>
            <a:ext cx="3657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F1C33"/>
                </a:solidFill>
                <a:latin typeface="Times New Roman"/>
              </a:rPr>
              <a:t>Technology stack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10996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Python 3.13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77924" y="3840480"/>
            <a:ext cx="800100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87752" y="3840480"/>
            <a:ext cx="644652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spaCy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2132" y="3840480"/>
            <a:ext cx="1188720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scikit-learn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40580" y="3840480"/>
            <a:ext cx="800100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PyTorch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50408" y="3840480"/>
            <a:ext cx="1965960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Hugging Face (FinBERT)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6096" y="3840480"/>
            <a:ext cx="955547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LangGraph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70248"/>
            <a:ext cx="2743200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SQLAlchemy · SQLite / PostgreSQL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10128" y="4270248"/>
            <a:ext cx="1499616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MLflow · DagsHub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19472" y="4270248"/>
            <a:ext cx="722376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DuckDB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51576" y="4270248"/>
            <a:ext cx="1033272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Next.js 16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94576" y="4270248"/>
            <a:ext cx="1655064" cy="3291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Docker · Cloud Run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828032"/>
            <a:ext cx="2651760" cy="65836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Idempotent daily run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re-runs never duplicate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4828032"/>
            <a:ext cx="2651760" cy="65836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Every claim traceable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brief → cited sentence →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4828032"/>
            <a:ext cx="2651760" cy="65836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80 automated tests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fully offline, ~30 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ASPECT-BASED SENTIMENT PIPELINE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Chevron 9"/>
          <p:cNvSpPr/>
          <p:nvPr/>
        </p:nvSpPr>
        <p:spPr>
          <a:xfrm>
            <a:off x="411480" y="1325880"/>
            <a:ext cx="1691640" cy="868680"/>
          </a:xfrm>
          <a:prstGeom prst="chevron">
            <a:avLst>
              <a:gd name="adj" fmla="val 2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Clean &amp;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deduplicate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2057400" y="1325880"/>
            <a:ext cx="1691640" cy="868680"/>
          </a:xfrm>
          <a:prstGeom prst="chevron">
            <a:avLst>
              <a:gd name="adj" fmla="val 28000"/>
            </a:avLst>
          </a:prstGeom>
          <a:solidFill>
            <a:srgbClr val="B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Split speakers &amp;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prepared vs Q&amp;A</a:t>
            </a:r>
          </a:p>
        </p:txBody>
      </p:sp>
      <p:sp>
        <p:nvSpPr>
          <p:cNvPr id="12" name="Chevron 11"/>
          <p:cNvSpPr/>
          <p:nvPr/>
        </p:nvSpPr>
        <p:spPr>
          <a:xfrm>
            <a:off x="3703320" y="1325880"/>
            <a:ext cx="1691640" cy="868680"/>
          </a:xfrm>
          <a:prstGeom prst="chevron">
            <a:avLst>
              <a:gd name="adj" fmla="val 2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Find aspects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(rules + spaCy)</a:t>
            </a:r>
          </a:p>
        </p:txBody>
      </p:sp>
      <p:sp>
        <p:nvSpPr>
          <p:cNvPr id="13" name="Chevron 12"/>
          <p:cNvSpPr/>
          <p:nvPr/>
        </p:nvSpPr>
        <p:spPr>
          <a:xfrm>
            <a:off x="5349240" y="1325880"/>
            <a:ext cx="1691640" cy="868680"/>
          </a:xfrm>
          <a:prstGeom prst="chevron">
            <a:avLst>
              <a:gd name="adj" fmla="val 28000"/>
            </a:avLst>
          </a:prstGeom>
          <a:solidFill>
            <a:srgbClr val="B847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Negation &amp;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hedge handling</a:t>
            </a:r>
          </a:p>
        </p:txBody>
      </p:sp>
      <p:sp>
        <p:nvSpPr>
          <p:cNvPr id="14" name="Chevron 13"/>
          <p:cNvSpPr/>
          <p:nvPr/>
        </p:nvSpPr>
        <p:spPr>
          <a:xfrm>
            <a:off x="6995160" y="1325880"/>
            <a:ext cx="1691640" cy="868680"/>
          </a:xfrm>
          <a:prstGeom prst="chevron">
            <a:avLst>
              <a:gd name="adj" fmla="val 2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Score each</a:t>
            </a:r>
          </a:p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aspect (−1…+1)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35915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Guidance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outlook, forecasts, targets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35915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Margins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profitability, costs, pricing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35915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Demand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orders, volumes, backlog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0779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Litigation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lawsuits, regulation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46120" y="290779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Management tone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confidence vs caution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2907792"/>
            <a:ext cx="2651760" cy="475488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9F1C33"/>
                </a:solidFill>
                <a:latin typeface="Times New Roman"/>
              </a:rPr>
              <a:t>Liquidity</a:t>
            </a:r>
          </a:p>
          <a:p>
            <a:pPr algn="ctr"/>
            <a:r>
              <a:rPr sz="1050" b="0">
                <a:solidFill>
                  <a:srgbClr val="595959"/>
                </a:solidFill>
                <a:latin typeface="Times New Roman"/>
              </a:rPr>
              <a:t>cash, debt, covenants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9F1C33"/>
                </a:solidFill>
                <a:latin typeface="Times New Roman"/>
              </a:rPr>
              <a:t>Worked example — the same sentences scored by two models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57200" y="3840480"/>
          <a:ext cx="8229600" cy="15910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5120640"/>
                <a:gridCol w="1097280"/>
                <a:gridCol w="1005840"/>
                <a:gridCol w="1005840"/>
              </a:tblGrid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Sentence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Rules (LM)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FinBERT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Gross margin expanded 180 basis points on favorable mix.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margins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4F"/>
                          </a:solidFill>
                          <a:latin typeface="Times New Roman"/>
                        </a:rPr>
                        <a:t>+0.90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4F"/>
                          </a:solidFill>
                          <a:latin typeface="Times New Roman"/>
                        </a:rPr>
                        <a:t>+0.99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Demand held up in automation, but aerospace orders declined.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demand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595959"/>
                          </a:solidFill>
                          <a:latin typeface="Times New Roman"/>
                        </a:rPr>
                        <a:t>0.00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We are lowering our full-year guidance.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guidance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F1C33"/>
                          </a:solidFill>
                          <a:latin typeface="Times New Roman"/>
                        </a:rPr>
                        <a:t>−0.50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F1C33"/>
                          </a:solidFill>
                          <a:latin typeface="Times New Roman"/>
                        </a:rPr>
                        <a:t>−1.00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We repaid 200 million dollars of debt and our leverage ratio improved.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liquidity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4F"/>
                          </a:solidFill>
                          <a:latin typeface="Times New Roman"/>
                        </a:rPr>
                        <a:t>+0.40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4F"/>
                          </a:solidFill>
                          <a:latin typeface="Times New Roman"/>
                        </a:rPr>
                        <a:t>+0.99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265176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We are unable to quantify the litigation exposure.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litigation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F1C33"/>
                          </a:solidFill>
                          <a:latin typeface="Times New Roman"/>
                        </a:rPr>
                        <a:t>−0.50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9F1C33"/>
                          </a:solidFill>
                          <a:latin typeface="Times New Roman"/>
                        </a:rPr>
                        <a:t>−1.00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MODEL LADDER &amp; LEXICON FAILURE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65760" y="1280160"/>
          <a:ext cx="4892040" cy="3977639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0" y="1280160"/>
            <a:ext cx="324612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F1C33"/>
                </a:solidFill>
                <a:latin typeface="Times New Roman"/>
              </a:rPr>
              <a:t>Error on “trap” sentences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627632"/>
            <a:ext cx="324612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Times New Roman"/>
              </a:rPr>
              <a:t>26 sentences where finance inverts everyday polarity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148840"/>
            <a:ext cx="141732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9F1C33"/>
                </a:solidFill>
                <a:latin typeface="Calibri"/>
              </a:rPr>
              <a:t>61.5%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48840"/>
            <a:ext cx="1783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Times New Roman"/>
              </a:rPr>
              <a:t>VADER (general lexicon)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53512"/>
            <a:ext cx="141732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9F1C33"/>
                </a:solidFill>
                <a:latin typeface="Calibri"/>
              </a:rPr>
              <a:t>61.5%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953512"/>
            <a:ext cx="1783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Times New Roman"/>
              </a:rPr>
              <a:t>Loughran-McDonald word counts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3758184"/>
            <a:ext cx="141732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2E7D4F"/>
                </a:solidFill>
                <a:latin typeface="Calibri"/>
              </a:rPr>
              <a:t>11.5%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58184"/>
            <a:ext cx="1783080" cy="64008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262626"/>
                </a:solidFill>
                <a:latin typeface="Times New Roman"/>
              </a:rPr>
              <a:t>FinBERT fine-tuned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4572000"/>
            <a:ext cx="3246120" cy="713232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100" b="0">
                <a:solidFill>
                  <a:srgbClr val="262626"/>
                </a:solidFill>
                <a:latin typeface="Times New Roman"/>
              </a:rPr>
              <a:t>“Customer churn decreased to its lowest level in three years.”</a:t>
            </a:r>
          </a:p>
          <a:p>
            <a:pPr algn="l"/>
            <a:r>
              <a:rPr sz="1100" b="1">
                <a:solidFill>
                  <a:srgbClr val="9F1C33"/>
                </a:solidFill>
                <a:latin typeface="Times New Roman"/>
              </a:rPr>
              <a:t>VADER: negative   ·   truth: positive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303520"/>
            <a:ext cx="832104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Times New Roman"/>
              </a:rPr>
              <a:t>Test set is small and self-written; trained models learn from template labels, so these scores are optimistic. A 300-sentence human-labelled set from real calls is in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GROUNDED MULTI-AGENT BRIEFS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pic>
        <p:nvPicPr>
          <p:cNvPr id="10" name="Picture 9" descr="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8229600" cy="1211570"/>
          </a:xfrm>
          <a:prstGeom prst="rect">
            <a:avLst/>
          </a:prstGeom>
        </p:spPr>
      </p:pic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65760" y="2697480"/>
          <a:ext cx="5120640" cy="27889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0" y="2743200"/>
            <a:ext cx="3063240" cy="2743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7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Only claims the Skeptic marks supported reach the brief.</a:t>
            </a:r>
          </a:p>
          <a:p>
            <a:pPr algn="l" marL="201168" indent="-182880">
              <a:spcAft>
                <a:spcPts val="7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Every brief sentence cites its source sentence; the full audit trail is stored.</a:t>
            </a:r>
          </a:p>
          <a:p>
            <a:pPr algn="l" marL="201168" indent="-182880">
              <a:spcAft>
                <a:spcPts val="7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Faithful claims wrongly rejected: 0 of 43.</a:t>
            </a:r>
          </a:p>
          <a:p>
            <a:pPr algn="l" marL="201168" indent="-182880">
              <a:spcAft>
                <a:spcPts val="7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The NLI model is needed: word checks miss flipped polarity.</a:t>
            </a:r>
          </a:p>
          <a:p>
            <a:pPr algn="l" marL="201168" indent="-182880">
              <a:spcAft>
                <a:spcPts val="7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LLM optional (Claude API); runs offline by default.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WEBSITE: WATCHLIST &amp; TRENDS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pic>
        <p:nvPicPr>
          <p:cNvPr id="10" name="Picture 9" descr="pilot_watchlis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4069080" cy="281013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1" name="Picture 10" descr="pilot_ba_trajectories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98448"/>
            <a:ext cx="4069080" cy="281013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4181738"/>
            <a:ext cx="40690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F1C33"/>
                </a:solidFill>
                <a:latin typeface="Times New Roman"/>
              </a:rPr>
              <a:t>Watchlist — 10 real companies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10922"/>
            <a:ext cx="40690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Latest call per company: six aspect scores and the brief's stance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Top aspect moves across the watchlist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⚠ marks aspects where the Q&amp;A ran well below the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81738"/>
            <a:ext cx="40690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F1C33"/>
                </a:solidFill>
                <a:latin typeface="Times New Roman"/>
              </a:rPr>
              <a:t>Company view — Boeing, 2015–2025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510922"/>
            <a:ext cx="40690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One chart per aspect across ~40 quarterly calls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Green / red dashed lines: prepared remarks vs Q&amp;A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Click any point to see the sentences behind it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WEBSITE: DRILL-DOWN &amp; BRIEF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9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pic>
        <p:nvPicPr>
          <p:cNvPr id="10" name="Picture 9" descr="pilot_ba_source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98448"/>
            <a:ext cx="4069080" cy="2660979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pic>
        <p:nvPicPr>
          <p:cNvPr id="11" name="Picture 10" descr="pilot_ba_brief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98448"/>
            <a:ext cx="4069080" cy="2810138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411480" y="4181738"/>
            <a:ext cx="40690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F1C33"/>
                </a:solidFill>
                <a:latin typeface="Times New Roman"/>
              </a:rPr>
              <a:t>From chart point to source sentence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510922"/>
            <a:ext cx="40690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Scored sentences from both models for that call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The sentence in context, with its speaker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Every stored model verdict for the sentence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181738"/>
            <a:ext cx="4069080" cy="31089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9F1C33"/>
                </a:solidFill>
                <a:latin typeface="Times New Roman"/>
              </a:rPr>
              <a:t>Brief for Boeing (Oct 2024 – Apr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510922"/>
            <a:ext cx="4069080" cy="12801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Stance and a transparent confidence breakdown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Bull and bear claims, each citing its source (src chips)</a:t>
            </a:r>
          </a:p>
          <a:p>
            <a:pPr algn="l" marL="201168" indent="-182880">
              <a:spcAft>
                <a:spcPts val="400"/>
              </a:spcAft>
              <a:buClr>
                <a:srgbClr val="9F1C33"/>
              </a:buClr>
              <a:buFont typeface="Arial"/>
              <a:buChar char="•"/>
            </a:pPr>
            <a:r>
              <a:rPr sz="1200" b="0" i="0">
                <a:solidFill>
                  <a:srgbClr val="262626"/>
                </a:solidFill>
                <a:latin typeface="Times New Roman"/>
              </a:rPr>
              <a:t>Cash burn, 777X costs and tariffs surface from real calls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WEBSITE: AUDIT, MONITORING &amp; API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10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pic>
        <p:nvPicPr>
          <p:cNvPr id="10" name="Picture 9" descr="pilot_ba_audi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95" y="1298448"/>
            <a:ext cx="2917050" cy="17190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411480" y="3054096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Times New Roman"/>
              </a:rPr>
              <a:t>Agent audit trail: Skeptic checks + NLI probabilities</a:t>
            </a:r>
          </a:p>
        </p:txBody>
      </p:sp>
      <p:pic>
        <p:nvPicPr>
          <p:cNvPr id="12" name="Picture 11" descr="pilot_drift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5851" y="1298448"/>
            <a:ext cx="3164258" cy="17190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4663440" y="3054096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Times New Roman"/>
              </a:rPr>
              <a:t>Drift monitor: quarterly aspect-mix shift (PSI) per company</a:t>
            </a:r>
          </a:p>
        </p:txBody>
      </p:sp>
      <p:pic>
        <p:nvPicPr>
          <p:cNvPr id="14" name="Picture 13" descr="pilot_models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891" y="3419856"/>
            <a:ext cx="3164258" cy="17190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411480" y="5175504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Times New Roman"/>
              </a:rPr>
              <a:t>Model registry: every model, its test scores, which one serves</a:t>
            </a:r>
          </a:p>
        </p:txBody>
      </p:sp>
      <p:pic>
        <p:nvPicPr>
          <p:cNvPr id="16" name="Picture 15" descr="pilot_api_docs_cro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1466" y="3419856"/>
            <a:ext cx="3653028" cy="1719072"/>
          </a:xfrm>
          <a:prstGeom prst="rect">
            <a:avLst/>
          </a:prstGeom>
          <a:ln w="9525">
            <a:solidFill>
              <a:srgbClr val="BFBFBF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4663440" y="5175504"/>
            <a:ext cx="40690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Times New Roman"/>
              </a:rPr>
              <a:t>FastAPI endpoints (interactive docs at /docs)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REAL-DATA PILOT &amp; SIGNAL STUDY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11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9844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9F1C33"/>
                </a:solidFill>
                <a:latin typeface="Calibri"/>
              </a:rPr>
              <a:t>10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companies, 10 sectors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129844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9F1C33"/>
                </a:solidFill>
                <a:latin typeface="Calibri"/>
              </a:rPr>
              <a:t>414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earnings calls, 2015–2025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129844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9F1C33"/>
                </a:solidFill>
                <a:latin typeface="Calibri"/>
              </a:rPr>
              <a:t>206k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sentences parsed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20840" y="1298448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2600" b="1">
                <a:solidFill>
                  <a:srgbClr val="9F1C33"/>
                </a:solidFill>
                <a:latin typeface="Calibri"/>
              </a:rPr>
              <a:t>45.7k</a:t>
            </a:r>
          </a:p>
          <a:p>
            <a:pPr algn="ctr"/>
            <a:r>
              <a:rPr sz="1100" b="0">
                <a:solidFill>
                  <a:srgbClr val="595959"/>
                </a:solidFill>
                <a:latin typeface="Times New Roman"/>
              </a:rPr>
              <a:t>aspect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377440"/>
            <a:ext cx="393192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F1C33"/>
                </a:solidFill>
                <a:latin typeface="Times New Roman"/>
              </a:rPr>
              <a:t>What real calls showed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3931920" cy="2651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The two best models agree on only 65% of real aspect mentions (7.7% opposite polarity).</a:t>
            </a:r>
          </a:p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“Management sounds weaker in Q&amp;A”: 64% of calls with the rule model, 49% with FinBERT — not robust.</a:t>
            </a:r>
          </a:p>
          <a:p>
            <a:pPr algn="l" marL="201168" indent="-182880">
              <a:spcAft>
                <a:spcPts val="800"/>
              </a:spcAft>
              <a:buClr>
                <a:srgbClr val="9F1C33"/>
              </a:buClr>
              <a:buFont typeface="Arial"/>
              <a:buChar char="•"/>
            </a:pPr>
            <a:r>
              <a:rPr sz="1300" b="0" i="0">
                <a:solidFill>
                  <a:srgbClr val="262626"/>
                </a:solidFill>
                <a:latin typeface="Times New Roman"/>
              </a:rPr>
              <a:t>Both agree only that demand and liquidity are discussed slightly more negatively in Q&amp;A.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3931920" cy="896112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/>
            <a:r>
              <a:rPr sz="1050" b="0">
                <a:solidFill>
                  <a:srgbClr val="595959"/>
                </a:solidFill>
                <a:latin typeface="Times New Roman"/>
              </a:rPr>
              <a:t>Data: kurry/sp500_earnings_transcripts (Hugging Face, pinned) · prices: Alpaca market data</a:t>
            </a:r>
          </a:p>
          <a:p>
            <a:pPr algn="l"/>
            <a:r>
              <a:rPr sz="1050" b="1">
                <a:solidFill>
                  <a:srgbClr val="9F1C33"/>
                </a:solidFill>
                <a:latin typeface="Times New Roman"/>
              </a:rPr>
              <a:t>Preliminary: a 300-sentence human-labelled set will decide which model to trust.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377440"/>
            <a:ext cx="4114800" cy="34747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9F1C33"/>
                </a:solidFill>
                <a:latin typeface="Times New Roman"/>
              </a:rPr>
              <a:t>Does sentiment move with returns?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617720" y="2743200"/>
          <a:ext cx="4114800" cy="197510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68880"/>
                <a:gridCol w="914400"/>
                <a:gridCol w="73152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Predictor (374 calls)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Days 0–4 ρ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imes New Roman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9F1C33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Q&amp;A − prepared gap (FinBERT)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−0.03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0.58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Q&amp;A − prepared gap (rules)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−0.07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0.19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62626"/>
                          </a:solidFill>
                          <a:latin typeface="Times New Roman"/>
                        </a:rPr>
                        <a:t>Whole-call sentiment (FinBERT)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D4F"/>
                          </a:solidFill>
                          <a:latin typeface="Times New Roman"/>
                        </a:rPr>
                        <a:t>+0.17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62626"/>
                          </a:solidFill>
                          <a:latin typeface="Times New Roman"/>
                        </a:rPr>
                        <a:t>0.001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Whole-call sentiment (rules)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E7D4F"/>
                          </a:solidFill>
                          <a:latin typeface="Times New Roman"/>
                        </a:rPr>
                        <a:t>+0.15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0.004</a:t>
                      </a:r>
                    </a:p>
                  </a:txBody>
                  <a:tcPr marL="54864" marR="54864" marT="18288" marB="18288" anchor="ctr"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Drift, days 2–11 (both)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≈ 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>
                          <a:solidFill>
                            <a:srgbClr val="262626"/>
                          </a:solidFill>
                          <a:latin typeface="Times New Roman"/>
                        </a:rPr>
                        <a:t>n.s.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4617720" y="4800600"/>
            <a:ext cx="4114800" cy="6858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595959"/>
                </a:solidFill>
                <a:latin typeface="Times New Roman"/>
              </a:rPr>
              <a:t>Returns are market-adjusted (Alpaca prices), with company fixed effects and analyst-EPS controls. The Q&amp;A gap is a null result; whole-call sentiment co-moves with the reaction but does not predict later drift.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CONCLUSION &amp; FUTURE WORK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12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9844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01368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6E4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4632" y="1901952"/>
            <a:ext cx="2560320" cy="3520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Aspect-level sentiment and grounded, cited briefs work end-to-end on 414 real earnings calls.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General lexicons fail on finance (61.5% error on trap sentences); domain models fix most of it.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The Skeptic stops fabricated numbers and citations; NLI is needed for flipped polarity.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The Q&amp;A-gap signal is a null result — reported honestly.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129844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Limitations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18688" y="1801368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291840" y="1901952"/>
            <a:ext cx="2560320" cy="3520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Test set small and self-written; models trained on template labels.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Models disagree on 35% of real sentences — no model yet validated on real text.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Rule-based aspect detection can mis-file sentences.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Not yet deployed; no LLM-written briefs audited by humans.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25896" y="129844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9F1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Times New Roman"/>
              </a:rPr>
              <a:t>Future 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25896" y="1801368"/>
            <a:ext cx="2697480" cy="3657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099048" y="1901952"/>
            <a:ext cx="2560320" cy="35204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Finish the 300-sentence human-labelled set; pick the model on evidence.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Re-run the signal study with the validated model.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Learned aspect tagger and calibrated confidence.</a:t>
            </a:r>
          </a:p>
          <a:p>
            <a:pPr algn="l" marL="201168" indent="-182880">
              <a:spcAft>
                <a:spcPts val="1000"/>
              </a:spcAft>
              <a:buClr>
                <a:srgbClr val="9F1C33"/>
              </a:buClr>
              <a:buFont typeface="Arial"/>
              <a:buChar char="•"/>
            </a:pPr>
            <a:r>
              <a:rPr sz="1400" b="0" i="0">
                <a:solidFill>
                  <a:srgbClr val="262626"/>
                </a:solidFill>
                <a:latin typeface="Times New Roman"/>
              </a:rPr>
              <a:t>Deploy on Cloud Run; add NSE/BSE transcripts.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71550" y="6381750"/>
            <a:ext cx="0" cy="360680"/>
          </a:xfrm>
          <a:custGeom>
            <a:avLst/>
            <a:gdLst/>
            <a:ahLst/>
            <a:cxnLst/>
            <a:rect l="l" t="t" r="r" b="b"/>
            <a:pathLst>
              <a:path h="360679">
                <a:moveTo>
                  <a:pt x="0" y="0"/>
                </a:moveTo>
                <a:lnTo>
                  <a:pt x="0" y="360362"/>
                </a:lnTo>
              </a:path>
            </a:pathLst>
          </a:custGeom>
          <a:ln w="9525">
            <a:solidFill>
              <a:srgbClr val="0D0D0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95287" y="1125600"/>
            <a:ext cx="8354059" cy="0"/>
          </a:xfrm>
          <a:custGeom>
            <a:avLst/>
            <a:gdLst/>
            <a:ahLst/>
            <a:cxnLst/>
            <a:rect l="l" t="t" r="r" b="b"/>
            <a:pathLst>
              <a:path w="8354059">
                <a:moveTo>
                  <a:pt x="0" y="0"/>
                </a:moveTo>
                <a:lnTo>
                  <a:pt x="8353488" y="0"/>
                </a:lnTo>
              </a:path>
            </a:pathLst>
          </a:custGeom>
          <a:ln w="9525">
            <a:solidFill>
              <a:srgbClr val="40404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0475" y="5595936"/>
            <a:ext cx="2803525" cy="126206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35940" y="450849"/>
            <a:ext cx="5966459" cy="487390"/>
          </a:xfrm>
          <a:prstGeom prst="rect">
            <a:avLst/>
          </a:prstGeom>
        </p:spPr>
        <p:txBody>
          <a:bodyPr vert="horz" wrap="square" lIns="0" tIns="5595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REFERENCES</a:t>
            </a:r>
            <a:endParaRPr spc="-10" dirty="0"/>
          </a:p>
        </p:txBody>
      </p:sp>
      <p:sp>
        <p:nvSpPr>
          <p:cNvPr id="8" name="object 8"/>
          <p:cNvSpPr txBox="1"/>
          <p:nvPr/>
        </p:nvSpPr>
        <p:spPr>
          <a:xfrm>
            <a:off x="566928" y="6452870"/>
            <a:ext cx="329184" cy="204470"/>
          </a:xfrm>
          <a:prstGeom prst="rect">
            <a:avLst/>
          </a:prstGeom>
        </p:spPr>
        <p:txBody>
          <a:bodyPr vert="horz" wrap="none" lIns="0" tIns="0" rIns="0" bIns="0" rtlCol="0">
            <a:spAutoFit/>
          </a:bodyPr>
          <a:lstStyle/>
          <a:p>
            <a:pPr marL="12700" algn="r">
              <a:lnSpc>
                <a:spcPts val="1435"/>
              </a:lnSpc>
            </a:pPr>
            <a:r>
              <a:rPr sz="1400" spc="-50" dirty="0">
                <a:solidFill>
                  <a:srgbClr val="404040"/>
                </a:solidFill>
                <a:latin typeface="Calibri"/>
                <a:cs typeface="Calibri"/>
              </a:rPr>
              <a:t>13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xfrm>
            <a:off x="1107744" y="6452870"/>
            <a:ext cx="3411880" cy="18203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35"/>
              </a:lnSpc>
            </a:pPr>
            <a:r>
              <a:rPr sz="1400" dirty="0"/>
              <a:t>Sentari — Sentiment Analysis (231CAUEC51)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298448"/>
            <a:ext cx="4069080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T. Loughran and B. McDonald, “When is a liability not a liability? Textual analysis, dictionaries, and 10-Ks,” J. Finance, 66(1), 2011.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[2]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C. J. Hutto and E. Gilbert, “VADER: A parsimonious rule-based model for sentiment analysis of social media text,” ICWSM, 2014.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[3]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S. Baccianella, A. Esuli and F. Sebastiani, “SentiWordNet 3.0,” LREC, 2010.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[4]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D. Araci, “FinBERT: Financial sentiment analysis with pre-trained language models,” arXiv:1908.10063, 2019.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[5]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J. Devlin et al., “BERT: Pre-training of deep bidirectional transformers for language understanding,” NAACL, 2019.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[6]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C. Sun, L. Huang and X. Qiu, “Utilizing BERT for aspect-based sentiment analysis via constructing auxiliary sentence,” NAACL, 2019.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[7]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M. Pontiki et al., “SemEval-2014 Task 4: Aspect based sentiment analysis,” SemEval, 2014.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1298448"/>
            <a:ext cx="4069080" cy="4206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[8]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Y. Kim, “Convolutional neural networks for sentence classification,” EMNLP, 2014.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[9]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S. Hochreiter and J. Schmidhuber, “Long short-term memory,” Neural Computation, 9(8), 1997.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[10]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Z. Ji et al., “Survey of hallucination in natural language generation,” ACM Computing Surveys, 55(12), 2023.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[11]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N. Reimers and I. Gurevych, “Sentence-BERT: Sentence embeddings using Siamese BERT-networks,” EMNLP, 2019.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[12]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kurry, “sp500_earnings_transcripts” dataset, Hugging Face, 2025 (MIT licence; research use).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[13]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Loughran-McDonald Master Dictionary (1993–2025), Notre Dame Software Repository for Accounting and Finance.</a:t>
            </a:r>
          </a:p>
          <a:p>
            <a:pPr algn="l">
              <a:spcAft>
                <a:spcPts val="900"/>
              </a:spcAft>
            </a:pPr>
            <a:r>
              <a:rPr sz="1200" b="1" i="0">
                <a:solidFill>
                  <a:srgbClr val="9F1C33"/>
                </a:solidFill>
                <a:latin typeface="Times New Roman"/>
              </a:rPr>
              <a:t>[14] </a:t>
            </a:r>
            <a:r>
              <a:rPr sz="1200" b="0" i="0">
                <a:solidFill>
                  <a:srgbClr val="262626"/>
                </a:solidFill>
                <a:latin typeface="Times New Roman"/>
              </a:rPr>
              <a:t>Alpaca Market Data API; LangGraph, FastAPI, spaCy and MLflow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234</TotalTime>
  <Words>1145</Words>
  <Application>Microsoft Office PowerPoint</Application>
  <PresentationFormat>On-screen Show (4:3)</PresentationFormat>
  <Paragraphs>232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Tahoma</vt:lpstr>
      <vt:lpstr>Times New Roman</vt:lpstr>
      <vt:lpstr>Office Theme</vt:lpstr>
      <vt:lpstr>BE MAJOR Project Mock 1 Presentation</vt:lpstr>
      <vt:lpstr>OUTLINE</vt:lpstr>
      <vt:lpstr>INTRODUCTION &amp; MOTIVATION</vt:lpstr>
      <vt:lpstr>PROBLEM STATEMENT</vt:lpstr>
      <vt:lpstr>LITRATURE REVIEW</vt:lpstr>
      <vt:lpstr>DATASET DESCRIPTION</vt:lpstr>
      <vt:lpstr>METHODOLOGY</vt:lpstr>
      <vt:lpstr>RESULT OF ML</vt:lpstr>
      <vt:lpstr>WHY DOES GENRALIZATION FAIL?</vt:lpstr>
      <vt:lpstr>TRANSFORMERS: PHASE 2 APPROACH</vt:lpstr>
      <vt:lpstr>TRANSFORMER EXPERIMENTAL PLAN</vt:lpstr>
      <vt:lpstr>CONCLUSIONS &amp; FUTURE WORK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TAG1</dc:creator>
  <cp:lastModifiedBy>Maitreya Pawar</cp:lastModifiedBy>
  <cp:revision>18</cp:revision>
  <cp:lastPrinted>2025-03-04T20:21:58Z</cp:lastPrinted>
  <dcterms:created xsi:type="dcterms:W3CDTF">2025-03-04T15:21:41Z</dcterms:created>
  <dcterms:modified xsi:type="dcterms:W3CDTF">2026-09-04T19:54:16Z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2025-03-04T00:00:00Z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2025-03-04T00:00:00Z</vt:filetime>
  </property>
  <property fmtid="{D5CDD505-2E9C-101B-9397-08002B2CF9AE}" pid="5" name="Producer">
    <vt:lpwstr>Microsoft® PowerPoint® 2019</vt:lpwstr>
  </property>
</Properties>
</file>